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0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217E6-B4D3-4934-BF82-AA755FA79A63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942CE8-DF73-4730-A510-912D65A058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3352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942CE8-DF73-4730-A510-912D65A058B8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173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942CE8-DF73-4730-A510-912D65A058B8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173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20F9E-4502-4B0E-A6C7-33131287EDEB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8DFE2-0EBC-4843-B3C6-B4BEC09776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4062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20F9E-4502-4B0E-A6C7-33131287EDEB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8DFE2-0EBC-4843-B3C6-B4BEC09776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4544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20F9E-4502-4B0E-A6C7-33131287EDEB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8DFE2-0EBC-4843-B3C6-B4BEC09776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6012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20F9E-4502-4B0E-A6C7-33131287EDEB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8DFE2-0EBC-4843-B3C6-B4BEC09776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4278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20F9E-4502-4B0E-A6C7-33131287EDEB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8DFE2-0EBC-4843-B3C6-B4BEC09776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8856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20F9E-4502-4B0E-A6C7-33131287EDEB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8DFE2-0EBC-4843-B3C6-B4BEC09776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5977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20F9E-4502-4B0E-A6C7-33131287EDEB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8DFE2-0EBC-4843-B3C6-B4BEC09776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5974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20F9E-4502-4B0E-A6C7-33131287EDEB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8DFE2-0EBC-4843-B3C6-B4BEC09776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0907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20F9E-4502-4B0E-A6C7-33131287EDEB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8DFE2-0EBC-4843-B3C6-B4BEC09776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0578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20F9E-4502-4B0E-A6C7-33131287EDEB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8DFE2-0EBC-4843-B3C6-B4BEC09776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5800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20F9E-4502-4B0E-A6C7-33131287EDEB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8DFE2-0EBC-4843-B3C6-B4BEC09776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2177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20F9E-4502-4B0E-A6C7-33131287EDEB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8DFE2-0EBC-4843-B3C6-B4BEC09776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6233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圓角矩形 3"/>
          <p:cNvSpPr/>
          <p:nvPr/>
        </p:nvSpPr>
        <p:spPr>
          <a:xfrm>
            <a:off x="458863" y="1290480"/>
            <a:ext cx="1007368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訂單</a:t>
            </a:r>
            <a:endParaRPr lang="zh-TW" altLang="en-US" dirty="0"/>
          </a:p>
        </p:txBody>
      </p:sp>
      <p:sp>
        <p:nvSpPr>
          <p:cNvPr id="7" name="圓角矩形 6"/>
          <p:cNvSpPr/>
          <p:nvPr/>
        </p:nvSpPr>
        <p:spPr>
          <a:xfrm>
            <a:off x="2909780" y="4123283"/>
            <a:ext cx="1007368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銷貨單</a:t>
            </a:r>
            <a:endParaRPr lang="zh-TW" altLang="en-US" dirty="0"/>
          </a:p>
        </p:txBody>
      </p:sp>
      <p:sp>
        <p:nvSpPr>
          <p:cNvPr id="9" name="圓角矩形 8"/>
          <p:cNvSpPr/>
          <p:nvPr/>
        </p:nvSpPr>
        <p:spPr>
          <a:xfrm>
            <a:off x="4709980" y="4123283"/>
            <a:ext cx="1007368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扣庫</a:t>
            </a:r>
            <a:endParaRPr lang="zh-TW" altLang="en-US" dirty="0"/>
          </a:p>
        </p:txBody>
      </p:sp>
      <p:sp>
        <p:nvSpPr>
          <p:cNvPr id="13" name="圓角矩形 12"/>
          <p:cNvSpPr/>
          <p:nvPr/>
        </p:nvSpPr>
        <p:spPr>
          <a:xfrm>
            <a:off x="441188" y="2349160"/>
            <a:ext cx="1007368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請購單</a:t>
            </a:r>
            <a:endParaRPr lang="zh-TW" altLang="en-US" dirty="0"/>
          </a:p>
        </p:txBody>
      </p:sp>
      <p:sp>
        <p:nvSpPr>
          <p:cNvPr id="15" name="圓角矩形 14"/>
          <p:cNvSpPr/>
          <p:nvPr/>
        </p:nvSpPr>
        <p:spPr>
          <a:xfrm>
            <a:off x="1919350" y="2348796"/>
            <a:ext cx="1007368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採購單</a:t>
            </a:r>
            <a:endParaRPr lang="zh-TW" altLang="en-US" dirty="0"/>
          </a:p>
        </p:txBody>
      </p:sp>
      <p:sp>
        <p:nvSpPr>
          <p:cNvPr id="17" name="圓角矩形 16"/>
          <p:cNvSpPr/>
          <p:nvPr/>
        </p:nvSpPr>
        <p:spPr>
          <a:xfrm>
            <a:off x="5023540" y="2349160"/>
            <a:ext cx="1152128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採購收貨</a:t>
            </a:r>
            <a:endParaRPr lang="zh-TW" altLang="en-US" dirty="0"/>
          </a:p>
        </p:txBody>
      </p:sp>
      <p:sp>
        <p:nvSpPr>
          <p:cNvPr id="36" name="圓角矩形 35"/>
          <p:cNvSpPr/>
          <p:nvPr/>
        </p:nvSpPr>
        <p:spPr>
          <a:xfrm>
            <a:off x="6679724" y="2344968"/>
            <a:ext cx="1152128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採購入庫</a:t>
            </a:r>
            <a:endParaRPr lang="zh-TW" altLang="en-US" dirty="0"/>
          </a:p>
        </p:txBody>
      </p:sp>
      <p:sp>
        <p:nvSpPr>
          <p:cNvPr id="41" name="圓角矩形 40"/>
          <p:cNvSpPr/>
          <p:nvPr/>
        </p:nvSpPr>
        <p:spPr>
          <a:xfrm>
            <a:off x="1404890" y="4124248"/>
            <a:ext cx="783813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應付</a:t>
            </a:r>
            <a:endParaRPr lang="zh-TW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724809" y="878494"/>
            <a:ext cx="4683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① </a:t>
            </a:r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751259" y="196201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②</a:t>
            </a:r>
            <a:endParaRPr lang="zh-TW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2173753" y="197219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③</a:t>
            </a:r>
            <a:endParaRPr lang="zh-TW" altLang="en-US" dirty="0"/>
          </a:p>
        </p:txBody>
      </p:sp>
      <p:sp>
        <p:nvSpPr>
          <p:cNvPr id="51" name="矩形 50"/>
          <p:cNvSpPr/>
          <p:nvPr/>
        </p:nvSpPr>
        <p:spPr>
          <a:xfrm>
            <a:off x="3740148" y="197321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④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>
          <a:xfrm>
            <a:off x="5370412" y="197219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⑤</a:t>
            </a:r>
            <a:endParaRPr lang="zh-TW" altLang="en-US" dirty="0"/>
          </a:p>
        </p:txBody>
      </p:sp>
      <p:sp>
        <p:nvSpPr>
          <p:cNvPr id="53" name="矩形 52"/>
          <p:cNvSpPr/>
          <p:nvPr/>
        </p:nvSpPr>
        <p:spPr>
          <a:xfrm>
            <a:off x="7027546" y="1979828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⑥</a:t>
            </a:r>
            <a:endParaRPr lang="zh-TW" altLang="en-US" dirty="0"/>
          </a:p>
        </p:txBody>
      </p:sp>
      <p:sp>
        <p:nvSpPr>
          <p:cNvPr id="54" name="矩形 53"/>
          <p:cNvSpPr/>
          <p:nvPr/>
        </p:nvSpPr>
        <p:spPr>
          <a:xfrm>
            <a:off x="1589047" y="3724218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⑦</a:t>
            </a:r>
            <a:endParaRPr lang="zh-TW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3150257" y="372633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⑧</a:t>
            </a:r>
            <a:endParaRPr lang="zh-TW" altLang="en-US" dirty="0"/>
          </a:p>
        </p:txBody>
      </p:sp>
      <p:sp>
        <p:nvSpPr>
          <p:cNvPr id="57" name="圓角矩形 56"/>
          <p:cNvSpPr/>
          <p:nvPr/>
        </p:nvSpPr>
        <p:spPr>
          <a:xfrm>
            <a:off x="6436994" y="4121035"/>
            <a:ext cx="1007368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應收</a:t>
            </a:r>
            <a:endParaRPr lang="zh-TW" altLang="en-US" dirty="0"/>
          </a:p>
        </p:txBody>
      </p:sp>
      <p:sp>
        <p:nvSpPr>
          <p:cNvPr id="58" name="矩形 57"/>
          <p:cNvSpPr/>
          <p:nvPr/>
        </p:nvSpPr>
        <p:spPr>
          <a:xfrm>
            <a:off x="4984459" y="368099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⑨</a:t>
            </a:r>
            <a:endParaRPr lang="zh-TW" altLang="en-US" dirty="0"/>
          </a:p>
        </p:txBody>
      </p:sp>
      <p:sp>
        <p:nvSpPr>
          <p:cNvPr id="31" name="圓角矩形 30"/>
          <p:cNvSpPr/>
          <p:nvPr/>
        </p:nvSpPr>
        <p:spPr>
          <a:xfrm>
            <a:off x="437407" y="1290480"/>
            <a:ext cx="1007368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訂單</a:t>
            </a:r>
            <a:endParaRPr lang="zh-TW" altLang="en-US" dirty="0"/>
          </a:p>
        </p:txBody>
      </p:sp>
      <p:sp>
        <p:nvSpPr>
          <p:cNvPr id="32" name="圓角矩形 31"/>
          <p:cNvSpPr/>
          <p:nvPr/>
        </p:nvSpPr>
        <p:spPr>
          <a:xfrm>
            <a:off x="2888324" y="4123283"/>
            <a:ext cx="1007368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出</a:t>
            </a:r>
            <a:r>
              <a:rPr lang="zh-TW" altLang="en-US" dirty="0" smtClean="0"/>
              <a:t>貨單</a:t>
            </a:r>
            <a:endParaRPr lang="zh-TW" altLang="en-US" dirty="0"/>
          </a:p>
        </p:txBody>
      </p:sp>
      <p:sp>
        <p:nvSpPr>
          <p:cNvPr id="33" name="圓角矩形 32"/>
          <p:cNvSpPr/>
          <p:nvPr/>
        </p:nvSpPr>
        <p:spPr>
          <a:xfrm>
            <a:off x="4688524" y="4123283"/>
            <a:ext cx="1007368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扣庫</a:t>
            </a:r>
            <a:endParaRPr lang="zh-TW" altLang="en-US" dirty="0"/>
          </a:p>
        </p:txBody>
      </p:sp>
      <p:sp>
        <p:nvSpPr>
          <p:cNvPr id="59" name="圓角矩形 58"/>
          <p:cNvSpPr/>
          <p:nvPr/>
        </p:nvSpPr>
        <p:spPr>
          <a:xfrm>
            <a:off x="3393700" y="2351569"/>
            <a:ext cx="1152128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採購發出</a:t>
            </a:r>
            <a:endParaRPr lang="zh-TW" altLang="en-US" dirty="0"/>
          </a:p>
        </p:txBody>
      </p:sp>
      <p:sp>
        <p:nvSpPr>
          <p:cNvPr id="78" name="矩形 77"/>
          <p:cNvSpPr/>
          <p:nvPr/>
        </p:nvSpPr>
        <p:spPr>
          <a:xfrm>
            <a:off x="6654835" y="3680302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⑩</a:t>
            </a:r>
          </a:p>
        </p:txBody>
      </p:sp>
      <p:sp>
        <p:nvSpPr>
          <p:cNvPr id="79" name="文字方塊 78"/>
          <p:cNvSpPr txBox="1"/>
          <p:nvPr/>
        </p:nvSpPr>
        <p:spPr>
          <a:xfrm>
            <a:off x="1017562" y="903901"/>
            <a:ext cx="7412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00B050"/>
                </a:solidFill>
              </a:rPr>
              <a:t>axmt410</a:t>
            </a:r>
            <a:endParaRPr lang="zh-TW" altLang="en-US" sz="1200" b="1" dirty="0">
              <a:solidFill>
                <a:srgbClr val="00B050"/>
              </a:solidFill>
            </a:endParaRPr>
          </a:p>
        </p:txBody>
      </p:sp>
      <p:sp>
        <p:nvSpPr>
          <p:cNvPr id="80" name="文字方塊 79"/>
          <p:cNvSpPr txBox="1"/>
          <p:nvPr/>
        </p:nvSpPr>
        <p:spPr>
          <a:xfrm>
            <a:off x="986677" y="2002311"/>
            <a:ext cx="7555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00B050"/>
                </a:solidFill>
              </a:rPr>
              <a:t>apmt420</a:t>
            </a:r>
            <a:endParaRPr lang="zh-TW" altLang="en-US" sz="1200" b="1" dirty="0">
              <a:solidFill>
                <a:srgbClr val="00B050"/>
              </a:solidFill>
            </a:endParaRPr>
          </a:p>
        </p:txBody>
      </p:sp>
      <p:sp>
        <p:nvSpPr>
          <p:cNvPr id="81" name="文字方塊 80"/>
          <p:cNvSpPr txBox="1"/>
          <p:nvPr/>
        </p:nvSpPr>
        <p:spPr>
          <a:xfrm>
            <a:off x="2666072" y="1487814"/>
            <a:ext cx="7873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FF0000"/>
                </a:solidFill>
              </a:rPr>
              <a:t>apmp500</a:t>
            </a:r>
            <a:endParaRPr lang="zh-TW" altLang="en-US" sz="1200" b="1" dirty="0">
              <a:solidFill>
                <a:srgbClr val="FF0000"/>
              </a:solidFill>
            </a:endParaRPr>
          </a:p>
        </p:txBody>
      </p:sp>
      <p:sp>
        <p:nvSpPr>
          <p:cNvPr id="82" name="文字方塊 81"/>
          <p:cNvSpPr txBox="1"/>
          <p:nvPr/>
        </p:nvSpPr>
        <p:spPr>
          <a:xfrm>
            <a:off x="2442724" y="1981984"/>
            <a:ext cx="7555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00B050"/>
                </a:solidFill>
              </a:rPr>
              <a:t>apmt540</a:t>
            </a:r>
            <a:endParaRPr lang="zh-TW" altLang="en-US" sz="1200" b="1" dirty="0">
              <a:solidFill>
                <a:srgbClr val="00B05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2485" y="56863"/>
            <a:ext cx="3384700" cy="195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文字方塊 85"/>
          <p:cNvSpPr txBox="1"/>
          <p:nvPr/>
        </p:nvSpPr>
        <p:spPr>
          <a:xfrm>
            <a:off x="4000257" y="2000166"/>
            <a:ext cx="7873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00B050"/>
                </a:solidFill>
              </a:rPr>
              <a:t>apmp554</a:t>
            </a:r>
            <a:endParaRPr lang="zh-TW" altLang="en-US" sz="1200" b="1" dirty="0">
              <a:solidFill>
                <a:srgbClr val="00B050"/>
              </a:solidFill>
            </a:endParaRPr>
          </a:p>
        </p:txBody>
      </p:sp>
      <p:sp>
        <p:nvSpPr>
          <p:cNvPr id="87" name="文字方塊 86"/>
          <p:cNvSpPr txBox="1"/>
          <p:nvPr/>
        </p:nvSpPr>
        <p:spPr>
          <a:xfrm>
            <a:off x="5639530" y="2011398"/>
            <a:ext cx="706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00B050"/>
                </a:solidFill>
              </a:rPr>
              <a:t>aapt110</a:t>
            </a:r>
            <a:endParaRPr lang="zh-TW" altLang="en-US" sz="1200" b="1" dirty="0">
              <a:solidFill>
                <a:srgbClr val="00B050"/>
              </a:solidFill>
            </a:endParaRPr>
          </a:p>
        </p:txBody>
      </p:sp>
      <p:sp>
        <p:nvSpPr>
          <p:cNvPr id="88" name="文字方塊 87"/>
          <p:cNvSpPr txBox="1"/>
          <p:nvPr/>
        </p:nvSpPr>
        <p:spPr>
          <a:xfrm>
            <a:off x="7321195" y="2008179"/>
            <a:ext cx="706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00B050"/>
                </a:solidFill>
              </a:rPr>
              <a:t>aapt720</a:t>
            </a:r>
            <a:endParaRPr lang="zh-TW" altLang="en-US" sz="1200" b="1" dirty="0">
              <a:solidFill>
                <a:srgbClr val="00B050"/>
              </a:solidFill>
            </a:endParaRPr>
          </a:p>
        </p:txBody>
      </p:sp>
      <p:sp>
        <p:nvSpPr>
          <p:cNvPr id="89" name="文字方塊 88"/>
          <p:cNvSpPr txBox="1"/>
          <p:nvPr/>
        </p:nvSpPr>
        <p:spPr>
          <a:xfrm>
            <a:off x="1863277" y="3763637"/>
            <a:ext cx="706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00B050"/>
                </a:solidFill>
              </a:rPr>
              <a:t>aapt110</a:t>
            </a:r>
            <a:endParaRPr lang="zh-TW" altLang="en-US" sz="1200" b="1" dirty="0">
              <a:solidFill>
                <a:srgbClr val="00B050"/>
              </a:solidFill>
            </a:endParaRPr>
          </a:p>
        </p:txBody>
      </p:sp>
      <p:sp>
        <p:nvSpPr>
          <p:cNvPr id="90" name="文字方塊 89"/>
          <p:cNvSpPr txBox="1"/>
          <p:nvPr/>
        </p:nvSpPr>
        <p:spPr>
          <a:xfrm>
            <a:off x="7015189" y="3709745"/>
            <a:ext cx="672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00B050"/>
                </a:solidFill>
              </a:rPr>
              <a:t>axrt300</a:t>
            </a:r>
            <a:endParaRPr lang="zh-TW" altLang="en-US" sz="1200" b="1" dirty="0">
              <a:solidFill>
                <a:srgbClr val="00B050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890" y="4898086"/>
            <a:ext cx="2663054" cy="1854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文字方塊 93"/>
          <p:cNvSpPr txBox="1"/>
          <p:nvPr/>
        </p:nvSpPr>
        <p:spPr>
          <a:xfrm>
            <a:off x="3453467" y="3763637"/>
            <a:ext cx="7412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00B050"/>
                </a:solidFill>
              </a:rPr>
              <a:t>axmt620</a:t>
            </a:r>
            <a:endParaRPr lang="zh-TW" altLang="en-US" sz="1200" b="1" dirty="0">
              <a:solidFill>
                <a:srgbClr val="00B050"/>
              </a:solidFill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7673" y="4891231"/>
            <a:ext cx="2593225" cy="1803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" name="文字方塊 94"/>
          <p:cNvSpPr txBox="1"/>
          <p:nvPr/>
        </p:nvSpPr>
        <p:spPr>
          <a:xfrm>
            <a:off x="179512" y="332656"/>
            <a:ext cx="2577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 smtClean="0">
                <a:solidFill>
                  <a:srgbClr val="FF0000"/>
                </a:solidFill>
              </a:rPr>
              <a:t>一般訂單流程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cxnSp>
        <p:nvCxnSpPr>
          <p:cNvPr id="3" name="肘形接點 2"/>
          <p:cNvCxnSpPr>
            <a:stCxn id="31" idx="2"/>
            <a:endCxn id="13" idx="1"/>
          </p:cNvCxnSpPr>
          <p:nvPr/>
        </p:nvCxnSpPr>
        <p:spPr>
          <a:xfrm rot="5400000">
            <a:off x="251810" y="1839899"/>
            <a:ext cx="878660" cy="499903"/>
          </a:xfrm>
          <a:prstGeom prst="bentConnector4">
            <a:avLst>
              <a:gd name="adj1" fmla="val 39756"/>
              <a:gd name="adj2" fmla="val 14572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肘形接點 5"/>
          <p:cNvCxnSpPr>
            <a:stCxn id="13" idx="3"/>
            <a:endCxn id="15" idx="1"/>
          </p:cNvCxnSpPr>
          <p:nvPr/>
        </p:nvCxnSpPr>
        <p:spPr>
          <a:xfrm flipV="1">
            <a:off x="1448556" y="2528816"/>
            <a:ext cx="470794" cy="36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15" idx="3"/>
            <a:endCxn id="59" idx="1"/>
          </p:cNvCxnSpPr>
          <p:nvPr/>
        </p:nvCxnSpPr>
        <p:spPr>
          <a:xfrm>
            <a:off x="2926718" y="2528816"/>
            <a:ext cx="466982" cy="27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59" idx="3"/>
            <a:endCxn id="17" idx="1"/>
          </p:cNvCxnSpPr>
          <p:nvPr/>
        </p:nvCxnSpPr>
        <p:spPr>
          <a:xfrm flipV="1">
            <a:off x="4545828" y="2529180"/>
            <a:ext cx="477712" cy="24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17" idx="3"/>
            <a:endCxn id="36" idx="1"/>
          </p:cNvCxnSpPr>
          <p:nvPr/>
        </p:nvCxnSpPr>
        <p:spPr>
          <a:xfrm flipV="1">
            <a:off x="6175668" y="2524988"/>
            <a:ext cx="504056" cy="4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肘形接點 24"/>
          <p:cNvCxnSpPr>
            <a:stCxn id="36" idx="2"/>
            <a:endCxn id="41" idx="1"/>
          </p:cNvCxnSpPr>
          <p:nvPr/>
        </p:nvCxnSpPr>
        <p:spPr>
          <a:xfrm rot="5400000">
            <a:off x="3530709" y="579189"/>
            <a:ext cx="1599260" cy="5850898"/>
          </a:xfrm>
          <a:prstGeom prst="bentConnector4">
            <a:avLst>
              <a:gd name="adj1" fmla="val 25130"/>
              <a:gd name="adj2" fmla="val 10390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stCxn id="41" idx="3"/>
            <a:endCxn id="32" idx="1"/>
          </p:cNvCxnSpPr>
          <p:nvPr/>
        </p:nvCxnSpPr>
        <p:spPr>
          <a:xfrm flipV="1">
            <a:off x="2188703" y="4303303"/>
            <a:ext cx="699621" cy="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stCxn id="32" idx="3"/>
            <a:endCxn id="33" idx="1"/>
          </p:cNvCxnSpPr>
          <p:nvPr/>
        </p:nvCxnSpPr>
        <p:spPr>
          <a:xfrm>
            <a:off x="3895692" y="4303303"/>
            <a:ext cx="7928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>
            <a:stCxn id="33" idx="3"/>
            <a:endCxn id="57" idx="1"/>
          </p:cNvCxnSpPr>
          <p:nvPr/>
        </p:nvCxnSpPr>
        <p:spPr>
          <a:xfrm flipV="1">
            <a:off x="5695892" y="4301055"/>
            <a:ext cx="741102" cy="2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肘形接點 44"/>
          <p:cNvCxnSpPr>
            <a:stCxn id="36" idx="3"/>
            <a:endCxn id="32" idx="0"/>
          </p:cNvCxnSpPr>
          <p:nvPr/>
        </p:nvCxnSpPr>
        <p:spPr>
          <a:xfrm flipH="1">
            <a:off x="3392008" y="2524988"/>
            <a:ext cx="4439844" cy="1598295"/>
          </a:xfrm>
          <a:prstGeom prst="bentConnector4">
            <a:avLst>
              <a:gd name="adj1" fmla="val -5149"/>
              <a:gd name="adj2" fmla="val 55632"/>
            </a:avLst>
          </a:prstGeom>
          <a:ln w="15875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文字方塊 82"/>
          <p:cNvSpPr txBox="1"/>
          <p:nvPr/>
        </p:nvSpPr>
        <p:spPr>
          <a:xfrm>
            <a:off x="4886251" y="3368291"/>
            <a:ext cx="1723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 smtClean="0">
                <a:solidFill>
                  <a:srgbClr val="FF0000"/>
                </a:solidFill>
              </a:rPr>
              <a:t>商品入庫才有庫存銷貨</a:t>
            </a:r>
            <a:endParaRPr lang="zh-TW" altLang="en-US" sz="1200" dirty="0">
              <a:solidFill>
                <a:srgbClr val="FF0000"/>
              </a:solidFill>
            </a:endParaRPr>
          </a:p>
        </p:txBody>
      </p:sp>
      <p:cxnSp>
        <p:nvCxnSpPr>
          <p:cNvPr id="63" name="肘形接點 62"/>
          <p:cNvCxnSpPr>
            <a:endCxn id="1026" idx="1"/>
          </p:cNvCxnSpPr>
          <p:nvPr/>
        </p:nvCxnSpPr>
        <p:spPr>
          <a:xfrm flipV="1">
            <a:off x="3565755" y="1036582"/>
            <a:ext cx="1396730" cy="1294763"/>
          </a:xfrm>
          <a:prstGeom prst="bentConnector3">
            <a:avLst>
              <a:gd name="adj1" fmla="val -359"/>
            </a:avLst>
          </a:prstGeom>
          <a:ln w="254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肘形接點 91"/>
          <p:cNvCxnSpPr>
            <a:stCxn id="33" idx="2"/>
            <a:endCxn id="1027" idx="0"/>
          </p:cNvCxnSpPr>
          <p:nvPr/>
        </p:nvCxnSpPr>
        <p:spPr>
          <a:xfrm rot="5400000">
            <a:off x="3756932" y="3462809"/>
            <a:ext cx="414763" cy="2455791"/>
          </a:xfrm>
          <a:prstGeom prst="bentConnector3">
            <a:avLst>
              <a:gd name="adj1" fmla="val 50000"/>
            </a:avLst>
          </a:prstGeom>
          <a:ln w="254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肘形接點 95"/>
          <p:cNvCxnSpPr>
            <a:stCxn id="57" idx="2"/>
            <a:endCxn id="1028" idx="0"/>
          </p:cNvCxnSpPr>
          <p:nvPr/>
        </p:nvCxnSpPr>
        <p:spPr>
          <a:xfrm rot="16200000" flipH="1">
            <a:off x="7082404" y="4339349"/>
            <a:ext cx="410156" cy="693608"/>
          </a:xfrm>
          <a:prstGeom prst="bentConnector3">
            <a:avLst>
              <a:gd name="adj1" fmla="val 50000"/>
            </a:avLst>
          </a:prstGeom>
          <a:ln w="254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532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79512" y="332656"/>
            <a:ext cx="5184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 smtClean="0">
                <a:solidFill>
                  <a:srgbClr val="FF0000"/>
                </a:solidFill>
              </a:rPr>
              <a:t>一般庶務性請採流程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344984" y="3072366"/>
            <a:ext cx="1007368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請購單</a:t>
            </a:r>
            <a:endParaRPr lang="zh-TW" altLang="en-US" dirty="0"/>
          </a:p>
        </p:txBody>
      </p:sp>
      <p:sp>
        <p:nvSpPr>
          <p:cNvPr id="6" name="圓角矩形 5"/>
          <p:cNvSpPr/>
          <p:nvPr/>
        </p:nvSpPr>
        <p:spPr>
          <a:xfrm>
            <a:off x="1793791" y="3072366"/>
            <a:ext cx="1007368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採購單</a:t>
            </a:r>
            <a:endParaRPr lang="zh-TW" altLang="en-US" dirty="0"/>
          </a:p>
        </p:txBody>
      </p:sp>
      <p:sp>
        <p:nvSpPr>
          <p:cNvPr id="7" name="圓角矩形 6"/>
          <p:cNvSpPr/>
          <p:nvPr/>
        </p:nvSpPr>
        <p:spPr>
          <a:xfrm>
            <a:off x="4932040" y="3062506"/>
            <a:ext cx="1152128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採購收貨</a:t>
            </a:r>
            <a:endParaRPr lang="zh-TW" altLang="en-US" dirty="0"/>
          </a:p>
        </p:txBody>
      </p:sp>
      <p:sp>
        <p:nvSpPr>
          <p:cNvPr id="8" name="圓角矩形 7"/>
          <p:cNvSpPr/>
          <p:nvPr/>
        </p:nvSpPr>
        <p:spPr>
          <a:xfrm>
            <a:off x="6588224" y="3058314"/>
            <a:ext cx="1152128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採購入庫</a:t>
            </a:r>
            <a:endParaRPr lang="zh-TW" altLang="en-US" dirty="0"/>
          </a:p>
        </p:txBody>
      </p:sp>
      <p:sp>
        <p:nvSpPr>
          <p:cNvPr id="10" name="圓角矩形 9"/>
          <p:cNvSpPr/>
          <p:nvPr/>
        </p:nvSpPr>
        <p:spPr>
          <a:xfrm>
            <a:off x="8252683" y="3056826"/>
            <a:ext cx="783813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應付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1030194" y="263210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②</a:t>
            </a:r>
            <a:endParaRPr lang="zh-TW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2111554" y="265166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③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3593247" y="265166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④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5200837" y="270303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⑤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6842600" y="2696498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⑥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8436840" y="265679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⑦</a:t>
            </a:r>
            <a:endParaRPr lang="zh-TW" altLang="en-US" dirty="0"/>
          </a:p>
        </p:txBody>
      </p:sp>
      <p:sp>
        <p:nvSpPr>
          <p:cNvPr id="17" name="圓角矩形 16"/>
          <p:cNvSpPr/>
          <p:nvPr/>
        </p:nvSpPr>
        <p:spPr>
          <a:xfrm>
            <a:off x="3275856" y="3073552"/>
            <a:ext cx="1152128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採購發出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481124" y="3376688"/>
            <a:ext cx="7555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00B050"/>
                </a:solidFill>
              </a:rPr>
              <a:t>apmt420</a:t>
            </a:r>
            <a:endParaRPr lang="zh-TW" altLang="en-US" sz="1200" b="1" dirty="0">
              <a:solidFill>
                <a:srgbClr val="00B050"/>
              </a:solidFill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1236652" y="3585751"/>
            <a:ext cx="7873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FF0000"/>
                </a:solidFill>
              </a:rPr>
              <a:t>apmp500</a:t>
            </a:r>
            <a:endParaRPr lang="zh-TW" altLang="en-US" sz="1200" b="1" dirty="0">
              <a:solidFill>
                <a:srgbClr val="FF0000"/>
              </a:solidFill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1933514" y="3383149"/>
            <a:ext cx="7555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00B050"/>
                </a:solidFill>
              </a:rPr>
              <a:t>apmt540</a:t>
            </a:r>
            <a:endParaRPr lang="zh-TW" altLang="en-US" sz="1200" b="1" dirty="0">
              <a:solidFill>
                <a:srgbClr val="00B050"/>
              </a:solidFill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3402046" y="3383043"/>
            <a:ext cx="7873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00B050"/>
                </a:solidFill>
              </a:rPr>
              <a:t>apmp554</a:t>
            </a:r>
            <a:endParaRPr lang="zh-TW" altLang="en-US" sz="1200" b="1" dirty="0">
              <a:solidFill>
                <a:srgbClr val="00B050"/>
              </a:solidFill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5154770" y="3371813"/>
            <a:ext cx="706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00B050"/>
                </a:solidFill>
              </a:rPr>
              <a:t>aapt110</a:t>
            </a:r>
            <a:endParaRPr lang="zh-TW" altLang="en-US" sz="1200" b="1" dirty="0">
              <a:solidFill>
                <a:srgbClr val="00B050"/>
              </a:solidFill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6826767" y="3383043"/>
            <a:ext cx="706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00B050"/>
                </a:solidFill>
              </a:rPr>
              <a:t>aapt720</a:t>
            </a:r>
            <a:endParaRPr lang="zh-TW" altLang="en-US" sz="1200" b="1" dirty="0">
              <a:solidFill>
                <a:srgbClr val="00B050"/>
              </a:solidFill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8298116" y="3371812"/>
            <a:ext cx="706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00B050"/>
                </a:solidFill>
              </a:rPr>
              <a:t>aapt120</a:t>
            </a:r>
            <a:endParaRPr lang="zh-TW" altLang="en-US" sz="1200" b="1" dirty="0">
              <a:solidFill>
                <a:srgbClr val="00B050"/>
              </a:solidFill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317269" y="429309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/>
              <a:t>預算內</a:t>
            </a:r>
            <a:endParaRPr lang="zh-TW" altLang="en-US" b="1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360780" y="1309936"/>
            <a:ext cx="87716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b="1" dirty="0" smtClean="0"/>
              <a:t>預算外</a:t>
            </a:r>
            <a:endParaRPr lang="zh-TW" altLang="en-US" b="1" dirty="0"/>
          </a:p>
        </p:txBody>
      </p:sp>
      <p:sp>
        <p:nvSpPr>
          <p:cNvPr id="32" name="圓角矩形 31"/>
          <p:cNvSpPr/>
          <p:nvPr/>
        </p:nvSpPr>
        <p:spPr>
          <a:xfrm>
            <a:off x="344983" y="1828979"/>
            <a:ext cx="1007368" cy="36004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簽呈</a:t>
            </a:r>
            <a:endParaRPr lang="zh-TW" altLang="en-US" dirty="0"/>
          </a:p>
        </p:txBody>
      </p:sp>
      <p:cxnSp>
        <p:nvCxnSpPr>
          <p:cNvPr id="3" name="直線單箭頭接點 2"/>
          <p:cNvCxnSpPr>
            <a:stCxn id="32" idx="2"/>
            <a:endCxn id="5" idx="0"/>
          </p:cNvCxnSpPr>
          <p:nvPr/>
        </p:nvCxnSpPr>
        <p:spPr>
          <a:xfrm>
            <a:off x="848667" y="2189019"/>
            <a:ext cx="1" cy="883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>
            <a:stCxn id="5" idx="3"/>
            <a:endCxn id="6" idx="1"/>
          </p:cNvCxnSpPr>
          <p:nvPr/>
        </p:nvCxnSpPr>
        <p:spPr>
          <a:xfrm>
            <a:off x="1352352" y="3252386"/>
            <a:ext cx="4414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>
            <a:stCxn id="6" idx="3"/>
            <a:endCxn id="17" idx="1"/>
          </p:cNvCxnSpPr>
          <p:nvPr/>
        </p:nvCxnSpPr>
        <p:spPr>
          <a:xfrm>
            <a:off x="2801159" y="3252386"/>
            <a:ext cx="474697" cy="1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>
            <a:stCxn id="17" idx="3"/>
            <a:endCxn id="7" idx="1"/>
          </p:cNvCxnSpPr>
          <p:nvPr/>
        </p:nvCxnSpPr>
        <p:spPr>
          <a:xfrm flipV="1">
            <a:off x="4427984" y="3242526"/>
            <a:ext cx="504056" cy="11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>
            <a:stCxn id="7" idx="3"/>
            <a:endCxn id="8" idx="1"/>
          </p:cNvCxnSpPr>
          <p:nvPr/>
        </p:nvCxnSpPr>
        <p:spPr>
          <a:xfrm flipV="1">
            <a:off x="6084168" y="3238334"/>
            <a:ext cx="504056" cy="4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>
            <a:stCxn id="8" idx="3"/>
            <a:endCxn id="10" idx="1"/>
          </p:cNvCxnSpPr>
          <p:nvPr/>
        </p:nvCxnSpPr>
        <p:spPr>
          <a:xfrm flipV="1">
            <a:off x="7740352" y="3236846"/>
            <a:ext cx="512331" cy="1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1465116" y="1794932"/>
            <a:ext cx="4683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① </a:t>
            </a:r>
            <a:endParaRPr lang="zh-TW" altLang="en-US" dirty="0"/>
          </a:p>
        </p:txBody>
      </p:sp>
      <p:sp>
        <p:nvSpPr>
          <p:cNvPr id="33" name="圓角矩形 32"/>
          <p:cNvSpPr/>
          <p:nvPr/>
        </p:nvSpPr>
        <p:spPr>
          <a:xfrm>
            <a:off x="397866" y="5311068"/>
            <a:ext cx="1007368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請購單</a:t>
            </a:r>
            <a:endParaRPr lang="zh-TW" altLang="en-US" dirty="0"/>
          </a:p>
        </p:txBody>
      </p:sp>
      <p:sp>
        <p:nvSpPr>
          <p:cNvPr id="34" name="圓角矩形 33"/>
          <p:cNvSpPr/>
          <p:nvPr/>
        </p:nvSpPr>
        <p:spPr>
          <a:xfrm>
            <a:off x="1846673" y="5311068"/>
            <a:ext cx="1007368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採購單</a:t>
            </a:r>
            <a:endParaRPr lang="zh-TW" altLang="en-US" dirty="0"/>
          </a:p>
        </p:txBody>
      </p:sp>
      <p:sp>
        <p:nvSpPr>
          <p:cNvPr id="36" name="圓角矩形 35"/>
          <p:cNvSpPr/>
          <p:nvPr/>
        </p:nvSpPr>
        <p:spPr>
          <a:xfrm>
            <a:off x="4984922" y="5301208"/>
            <a:ext cx="1152128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採購收貨</a:t>
            </a:r>
            <a:endParaRPr lang="zh-TW" altLang="en-US" dirty="0"/>
          </a:p>
        </p:txBody>
      </p:sp>
      <p:sp>
        <p:nvSpPr>
          <p:cNvPr id="38" name="圓角矩形 37"/>
          <p:cNvSpPr/>
          <p:nvPr/>
        </p:nvSpPr>
        <p:spPr>
          <a:xfrm>
            <a:off x="6641106" y="5297016"/>
            <a:ext cx="1152128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採購入庫</a:t>
            </a:r>
            <a:endParaRPr lang="zh-TW" altLang="en-US" dirty="0"/>
          </a:p>
        </p:txBody>
      </p:sp>
      <p:sp>
        <p:nvSpPr>
          <p:cNvPr id="40" name="圓角矩形 39"/>
          <p:cNvSpPr/>
          <p:nvPr/>
        </p:nvSpPr>
        <p:spPr>
          <a:xfrm>
            <a:off x="8305565" y="5295528"/>
            <a:ext cx="783813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應付</a:t>
            </a:r>
            <a:endParaRPr lang="zh-TW" altLang="en-US" dirty="0"/>
          </a:p>
        </p:txBody>
      </p:sp>
      <p:sp>
        <p:nvSpPr>
          <p:cNvPr id="42" name="矩形 41"/>
          <p:cNvSpPr/>
          <p:nvPr/>
        </p:nvSpPr>
        <p:spPr>
          <a:xfrm>
            <a:off x="2177070" y="486852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②</a:t>
            </a:r>
            <a:endParaRPr lang="zh-TW" altLang="en-US" dirty="0"/>
          </a:p>
        </p:txBody>
      </p:sp>
      <p:sp>
        <p:nvSpPr>
          <p:cNvPr id="44" name="矩形 43"/>
          <p:cNvSpPr/>
          <p:nvPr/>
        </p:nvSpPr>
        <p:spPr>
          <a:xfrm>
            <a:off x="3673928" y="4890368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③</a:t>
            </a:r>
            <a:endParaRPr lang="zh-TW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5285216" y="4890368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④</a:t>
            </a:r>
            <a:endParaRPr lang="zh-TW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6892806" y="494173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⑤</a:t>
            </a:r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8404974" y="493520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⑥</a:t>
            </a:r>
            <a:endParaRPr lang="zh-TW" altLang="en-US" dirty="0"/>
          </a:p>
        </p:txBody>
      </p:sp>
      <p:sp>
        <p:nvSpPr>
          <p:cNvPr id="49" name="圓角矩形 48"/>
          <p:cNvSpPr/>
          <p:nvPr/>
        </p:nvSpPr>
        <p:spPr>
          <a:xfrm>
            <a:off x="3328738" y="5312254"/>
            <a:ext cx="1152128" cy="36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採購發出</a:t>
            </a:r>
            <a:endParaRPr lang="zh-TW" altLang="en-US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534006" y="5615390"/>
            <a:ext cx="7555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00B050"/>
                </a:solidFill>
              </a:rPr>
              <a:t>apmt420</a:t>
            </a:r>
            <a:endParaRPr lang="zh-TW" altLang="en-US" sz="1200" b="1" dirty="0">
              <a:solidFill>
                <a:srgbClr val="00B050"/>
              </a:solidFill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1289534" y="5824453"/>
            <a:ext cx="7873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FF0000"/>
                </a:solidFill>
              </a:rPr>
              <a:t>apmp500</a:t>
            </a:r>
            <a:endParaRPr lang="zh-TW" altLang="en-US" sz="1200" b="1" dirty="0">
              <a:solidFill>
                <a:srgbClr val="FF0000"/>
              </a:solidFill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1986396" y="5621851"/>
            <a:ext cx="7555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00B050"/>
                </a:solidFill>
              </a:rPr>
              <a:t>apmt540</a:t>
            </a:r>
            <a:endParaRPr lang="zh-TW" altLang="en-US" sz="1200" b="1" dirty="0">
              <a:solidFill>
                <a:srgbClr val="00B050"/>
              </a:solidFill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3454928" y="5621745"/>
            <a:ext cx="7873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00B050"/>
                </a:solidFill>
              </a:rPr>
              <a:t>apmp554</a:t>
            </a:r>
            <a:endParaRPr lang="zh-TW" altLang="en-US" sz="1200" b="1" dirty="0">
              <a:solidFill>
                <a:srgbClr val="00B050"/>
              </a:solidFill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5207652" y="5610515"/>
            <a:ext cx="706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00B050"/>
                </a:solidFill>
              </a:rPr>
              <a:t>aapt110</a:t>
            </a:r>
            <a:endParaRPr lang="zh-TW" altLang="en-US" sz="1200" b="1" dirty="0">
              <a:solidFill>
                <a:srgbClr val="00B050"/>
              </a:solidFill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6879649" y="5621745"/>
            <a:ext cx="706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00B050"/>
                </a:solidFill>
              </a:rPr>
              <a:t>aapt720</a:t>
            </a:r>
            <a:endParaRPr lang="zh-TW" altLang="en-US" sz="1200" b="1" dirty="0">
              <a:solidFill>
                <a:srgbClr val="00B050"/>
              </a:solidFill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8350998" y="5610514"/>
            <a:ext cx="706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 smtClean="0">
                <a:solidFill>
                  <a:srgbClr val="00B050"/>
                </a:solidFill>
              </a:rPr>
              <a:t>aapt120</a:t>
            </a:r>
            <a:endParaRPr lang="zh-TW" altLang="en-US" sz="1200" b="1" dirty="0">
              <a:solidFill>
                <a:srgbClr val="00B050"/>
              </a:solidFill>
            </a:endParaRPr>
          </a:p>
        </p:txBody>
      </p:sp>
      <p:cxnSp>
        <p:nvCxnSpPr>
          <p:cNvPr id="57" name="直線單箭頭接點 56"/>
          <p:cNvCxnSpPr>
            <a:stCxn id="33" idx="3"/>
            <a:endCxn id="34" idx="1"/>
          </p:cNvCxnSpPr>
          <p:nvPr/>
        </p:nvCxnSpPr>
        <p:spPr>
          <a:xfrm>
            <a:off x="1405234" y="5491088"/>
            <a:ext cx="4414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>
            <a:stCxn id="34" idx="3"/>
            <a:endCxn id="49" idx="1"/>
          </p:cNvCxnSpPr>
          <p:nvPr/>
        </p:nvCxnSpPr>
        <p:spPr>
          <a:xfrm>
            <a:off x="2854041" y="5491088"/>
            <a:ext cx="474697" cy="1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>
            <a:stCxn id="49" idx="3"/>
            <a:endCxn id="36" idx="1"/>
          </p:cNvCxnSpPr>
          <p:nvPr/>
        </p:nvCxnSpPr>
        <p:spPr>
          <a:xfrm flipV="1">
            <a:off x="4480866" y="5481228"/>
            <a:ext cx="504056" cy="11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>
            <a:stCxn id="36" idx="3"/>
            <a:endCxn id="38" idx="1"/>
          </p:cNvCxnSpPr>
          <p:nvPr/>
        </p:nvCxnSpPr>
        <p:spPr>
          <a:xfrm flipV="1">
            <a:off x="6137050" y="5477036"/>
            <a:ext cx="504056" cy="4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>
            <a:stCxn id="38" idx="3"/>
            <a:endCxn id="40" idx="1"/>
          </p:cNvCxnSpPr>
          <p:nvPr/>
        </p:nvCxnSpPr>
        <p:spPr>
          <a:xfrm flipV="1">
            <a:off x="7793234" y="5475548"/>
            <a:ext cx="512331" cy="1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/>
          <p:cNvSpPr/>
          <p:nvPr/>
        </p:nvSpPr>
        <p:spPr>
          <a:xfrm>
            <a:off x="705086" y="4890368"/>
            <a:ext cx="4683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①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73166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79512" y="332656"/>
            <a:ext cx="5184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 smtClean="0">
                <a:solidFill>
                  <a:srgbClr val="FF0000"/>
                </a:solidFill>
              </a:rPr>
              <a:t>廠商建立申請流程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241610" y="3419181"/>
            <a:ext cx="1800200" cy="8640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TIPTOP</a:t>
            </a:r>
            <a:r>
              <a:rPr lang="zh-TW" altLang="en-US" dirty="0" smtClean="0"/>
              <a:t>登入</a:t>
            </a:r>
            <a:r>
              <a:rPr lang="en-US" altLang="zh-TW" dirty="0" smtClean="0"/>
              <a:t>DC01</a:t>
            </a:r>
            <a:r>
              <a:rPr lang="zh-TW" altLang="en-US" dirty="0" smtClean="0"/>
              <a:t>公司別</a:t>
            </a:r>
            <a:endParaRPr lang="zh-TW" altLang="en-US" dirty="0"/>
          </a:p>
        </p:txBody>
      </p:sp>
      <p:sp>
        <p:nvSpPr>
          <p:cNvPr id="6" name="圓角矩形 5"/>
          <p:cNvSpPr/>
          <p:nvPr/>
        </p:nvSpPr>
        <p:spPr>
          <a:xfrm>
            <a:off x="313618" y="1103823"/>
            <a:ext cx="1656184" cy="9117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BPM</a:t>
            </a:r>
            <a:r>
              <a:rPr lang="zh-TW" altLang="en-US" dirty="0" smtClean="0"/>
              <a:t>新建廠商申請</a:t>
            </a:r>
            <a:endParaRPr lang="zh-TW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203722"/>
            <a:ext cx="5575112" cy="3009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3644124"/>
            <a:ext cx="4392488" cy="1622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4572000" y="3341909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需準備收集以下資料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5229200"/>
            <a:ext cx="4392488" cy="1483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圓角矩形 13"/>
          <p:cNvSpPr/>
          <p:nvPr/>
        </p:nvSpPr>
        <p:spPr>
          <a:xfrm>
            <a:off x="241610" y="5686897"/>
            <a:ext cx="1800200" cy="8640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TIPTOP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 smtClean="0"/>
              <a:t>aimi600</a:t>
            </a:r>
            <a:r>
              <a:rPr lang="zh-TW" altLang="en-US" dirty="0" smtClean="0"/>
              <a:t>建立廠商資料</a:t>
            </a:r>
          </a:p>
        </p:txBody>
      </p:sp>
      <p:cxnSp>
        <p:nvCxnSpPr>
          <p:cNvPr id="3" name="直線單箭頭接點 2"/>
          <p:cNvCxnSpPr>
            <a:stCxn id="6" idx="2"/>
            <a:endCxn id="5" idx="0"/>
          </p:cNvCxnSpPr>
          <p:nvPr/>
        </p:nvCxnSpPr>
        <p:spPr>
          <a:xfrm>
            <a:off x="1141710" y="2015561"/>
            <a:ext cx="0" cy="1403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>
            <a:stCxn id="5" idx="2"/>
            <a:endCxn id="14" idx="0"/>
          </p:cNvCxnSpPr>
          <p:nvPr/>
        </p:nvCxnSpPr>
        <p:spPr>
          <a:xfrm>
            <a:off x="1141710" y="4283277"/>
            <a:ext cx="0" cy="1403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0481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79512" y="332656"/>
            <a:ext cx="5184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 smtClean="0">
                <a:solidFill>
                  <a:srgbClr val="FF0000"/>
                </a:solidFill>
              </a:rPr>
              <a:t>料號建立申請流程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2483768" y="1102269"/>
            <a:ext cx="1800200" cy="8640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TIPTOP</a:t>
            </a:r>
            <a:r>
              <a:rPr lang="zh-TW" altLang="en-US" dirty="0" smtClean="0"/>
              <a:t>登入</a:t>
            </a:r>
            <a:r>
              <a:rPr lang="en-US" altLang="zh-TW" dirty="0" smtClean="0"/>
              <a:t>DC01</a:t>
            </a:r>
            <a:r>
              <a:rPr lang="zh-TW" altLang="en-US" dirty="0" smtClean="0"/>
              <a:t>公司別</a:t>
            </a:r>
            <a:endParaRPr lang="zh-TW" altLang="en-US" dirty="0"/>
          </a:p>
        </p:txBody>
      </p:sp>
      <p:sp>
        <p:nvSpPr>
          <p:cNvPr id="6" name="圓角矩形 5"/>
          <p:cNvSpPr/>
          <p:nvPr/>
        </p:nvSpPr>
        <p:spPr>
          <a:xfrm>
            <a:off x="241610" y="1101468"/>
            <a:ext cx="1656184" cy="9117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需求單位提出需求給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EMMA</a:t>
            </a:r>
            <a:endParaRPr lang="zh-TW" altLang="en-US" dirty="0"/>
          </a:p>
        </p:txBody>
      </p:sp>
      <p:cxnSp>
        <p:nvCxnSpPr>
          <p:cNvPr id="7" name="直線單箭頭接點 6"/>
          <p:cNvCxnSpPr/>
          <p:nvPr/>
        </p:nvCxnSpPr>
        <p:spPr>
          <a:xfrm>
            <a:off x="1979712" y="1581158"/>
            <a:ext cx="420637" cy="30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圓角矩形 13"/>
          <p:cNvSpPr/>
          <p:nvPr/>
        </p:nvSpPr>
        <p:spPr>
          <a:xfrm>
            <a:off x="4932040" y="1111537"/>
            <a:ext cx="1800200" cy="8640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TIPTOP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 smtClean="0"/>
              <a:t>aimi150</a:t>
            </a:r>
            <a:r>
              <a:rPr lang="zh-TW" altLang="en-US" dirty="0" smtClean="0"/>
              <a:t>建立料號基本資料</a:t>
            </a:r>
          </a:p>
        </p:txBody>
      </p:sp>
      <p:cxnSp>
        <p:nvCxnSpPr>
          <p:cNvPr id="15" name="直線單箭頭接點 14"/>
          <p:cNvCxnSpPr/>
          <p:nvPr/>
        </p:nvCxnSpPr>
        <p:spPr>
          <a:xfrm>
            <a:off x="4355976" y="1533516"/>
            <a:ext cx="432048" cy="8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圓角矩形 15"/>
          <p:cNvSpPr/>
          <p:nvPr/>
        </p:nvSpPr>
        <p:spPr>
          <a:xfrm>
            <a:off x="7308304" y="1111537"/>
            <a:ext cx="1800200" cy="8640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TIPTOP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 smtClean="0"/>
              <a:t>aimi100</a:t>
            </a:r>
            <a:r>
              <a:rPr lang="zh-TW" altLang="en-US" dirty="0" smtClean="0"/>
              <a:t>拋轉到所需公司別</a:t>
            </a:r>
          </a:p>
        </p:txBody>
      </p:sp>
      <p:cxnSp>
        <p:nvCxnSpPr>
          <p:cNvPr id="20" name="直線單箭頭接點 19"/>
          <p:cNvCxnSpPr/>
          <p:nvPr/>
        </p:nvCxnSpPr>
        <p:spPr>
          <a:xfrm>
            <a:off x="6804248" y="1542231"/>
            <a:ext cx="432048" cy="8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8801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14249</TotalTime>
  <Words>176</Words>
  <Application>Microsoft Office PowerPoint</Application>
  <PresentationFormat>如螢幕大小 (4:3)</PresentationFormat>
  <Paragraphs>90</Paragraphs>
  <Slides>4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新細明體</vt:lpstr>
      <vt:lpstr>Arial</vt:lpstr>
      <vt:lpstr>Calibri</vt:lpstr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陳重谷(Eric)</dc:creator>
  <cp:lastModifiedBy>吳俐潓(May_wu)</cp:lastModifiedBy>
  <cp:revision>20</cp:revision>
  <dcterms:created xsi:type="dcterms:W3CDTF">2024-08-28T06:47:47Z</dcterms:created>
  <dcterms:modified xsi:type="dcterms:W3CDTF">2026-01-06T05:42:41Z</dcterms:modified>
</cp:coreProperties>
</file>